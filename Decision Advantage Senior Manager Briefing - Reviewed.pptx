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cdd6510dd34d03" /><Relationship Type="http://schemas.openxmlformats.org/officeDocument/2006/relationships/extended-properties" Target="/docProps/app.xml" Id="R27eb62075a4a469a" /><Relationship Type="http://schemas.openxmlformats.org/officeDocument/2006/relationships/officeDocument" Target="/ppt/presentation.xml" Id="R9a20d6282f3f4f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c868ef91b400d"/>
  </p:sldMasterIdLst>
  <p:notesMasterIdLst>
    <p:notesMasterId xmlns:r="http://schemas.openxmlformats.org/officeDocument/2006/relationships" r:id="R51626d99e99347eb"/>
  </p:notesMasterIdLst>
  <p:sldIdLst>
    <p:sldId xmlns:r="http://schemas.openxmlformats.org/officeDocument/2006/relationships" id="256" r:id="R2c544934ed1e408b"/>
    <p:sldId xmlns:r="http://schemas.openxmlformats.org/officeDocument/2006/relationships" id="257" r:id="R5fcb5caf694e44a6"/>
    <p:sldId xmlns:r="http://schemas.openxmlformats.org/officeDocument/2006/relationships" id="258" r:id="Rde368ead3ca648b2"/>
    <p:sldId xmlns:r="http://schemas.openxmlformats.org/officeDocument/2006/relationships" id="259" r:id="R397c4b6f1cd040fc"/>
    <p:sldId xmlns:r="http://schemas.openxmlformats.org/officeDocument/2006/relationships" id="260" r:id="Rb9fd2970ca0046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4289422dd8467d" /><Relationship Type="http://schemas.openxmlformats.org/officeDocument/2006/relationships/slideMaster" Target="/ppt/slideMasters/slideMaster1.xml" Id="R011c868ef91b400d" /><Relationship Type="http://schemas.openxmlformats.org/officeDocument/2006/relationships/notesMaster" Target="/ppt/notesMasters/notesMaster1.xml" Id="R51626d99e99347eb" /><Relationship Type="http://schemas.openxmlformats.org/officeDocument/2006/relationships/presProps" Target="/ppt/presProps.xml" Id="Rb7e108293e02461c" /><Relationship Type="http://schemas.openxmlformats.org/officeDocument/2006/relationships/tableStyles" Target="/ppt/tableStyles.xml" Id="R7d65413975104363" /><Relationship Type="http://schemas.openxmlformats.org/officeDocument/2006/relationships/slide" Target="/ppt/slides/slide1.xml" Id="R2c544934ed1e408b" /><Relationship Type="http://schemas.openxmlformats.org/officeDocument/2006/relationships/slide" Target="/ppt/slides/slide2.xml" Id="R5fcb5caf694e44a6" /><Relationship Type="http://schemas.openxmlformats.org/officeDocument/2006/relationships/slide" Target="/ppt/slides/slide3.xml" Id="Rde368ead3ca648b2" /><Relationship Type="http://schemas.openxmlformats.org/officeDocument/2006/relationships/slide" Target="/ppt/slides/slide4.xml" Id="R397c4b6f1cd040fc" /><Relationship Type="http://schemas.openxmlformats.org/officeDocument/2006/relationships/slide" Target="/ppt/slides/slide5.xml" Id="Rb9fd2970ca00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1d49ef2c19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edad9f2994394" /><Relationship Type="http://schemas.openxmlformats.org/officeDocument/2006/relationships/notesMaster" Target="/ppt/notesMasters/notesMaster1.xml" Id="Rcbd0b4a1a9ed43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2d46cbb5364ce9" /><Relationship Type="http://schemas.openxmlformats.org/officeDocument/2006/relationships/notesMaster" Target="/ppt/notesMasters/notesMaster1.xml" Id="Rc47de6f5315a4e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faa657de9947c3" /><Relationship Type="http://schemas.openxmlformats.org/officeDocument/2006/relationships/notesMaster" Target="/ppt/notesMasters/notesMaster1.xml" Id="Rc80edbd5f45443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068af4f9f34135" /><Relationship Type="http://schemas.openxmlformats.org/officeDocument/2006/relationships/notesMaster" Target="/ppt/notesMasters/notesMaster1.xml" Id="R591647ee77cd4a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24639e3a8644c7" /><Relationship Type="http://schemas.openxmlformats.org/officeDocument/2006/relationships/notesMaster" Target="/ppt/notesMasters/notesMaster1.xml" Id="R1be793fe69e9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Decision Advantage materials. This deck presents a hypothesis and an internal sponsorship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prior analysis. No claim is made that existing tools or digital twins lack decision governance. The deck proposes a test of one selected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Decision Advantage decision contract. The workshop scenario is synthetic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workshop plan. The 12-week assessment is gated and subject to later verification of client, IP and governance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request. Verify EY priorities, partner roles, IP ownership and permitted external use before any external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8addf841b4e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21ae31db41468b" /><Relationship Type="http://schemas.openxmlformats.org/officeDocument/2006/relationships/slideLayout" Target="/ppt/slideLayouts/slideLayout1.xml" Id="R35fee34a721744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ee34a721744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af53191954055" /><Relationship Type="http://schemas.openxmlformats.org/officeDocument/2006/relationships/notesSlide" Target="/ppt/notesSlides/notesSlide1.xml" Id="Rfa8882b6245c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3d7349cf74269" /><Relationship Type="http://schemas.openxmlformats.org/officeDocument/2006/relationships/notesSlide" Target="/ppt/notesSlides/notesSlide2.xml" Id="Rf48a6a00ab5c42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3b2286dbe400d" /><Relationship Type="http://schemas.openxmlformats.org/officeDocument/2006/relationships/notesSlide" Target="/ppt/notesSlides/notesSlide3.xml" Id="R064961eb96ca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5fbece084856" /><Relationship Type="http://schemas.openxmlformats.org/officeDocument/2006/relationships/notesSlide" Target="/ppt/notesSlides/notesSlide4.xml" Id="Ra46cd73078194c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90318fca54871" /><Relationship Type="http://schemas.openxmlformats.org/officeDocument/2006/relationships/notesSlide" Target="/ppt/notesSlides/notesSlide5.xml" Id="R2fb514f5013944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A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3FA7C-E41D-490C-B648-33F25330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044AC-BE19-43CC-B37A-64AF680B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E600"/>
                </a:solidFill>
                <a:latin typeface="Arial"/>
                <a:ea typeface="Arial"/>
                <a:cs typeface="Arial"/>
              </a:rPr>
              <a:t>INTERNAL SENIOR MANAGER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60F57-D9A3-482C-930F-187637B6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23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Advantage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0DF1A-8A28-4AA4-A93C-CE8F8484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small test of whether a capacity alert becomes a clear operational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F9996-9F32-40E7-A7E0-0C496A36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E6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6A960-37D1-4C42-B38A-E6D3E85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Request: support an internal workshop and help identify the right partner conversation.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14A7F-2B55-47D1-ADA3-BFDAC627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3B3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3B3B3"/>
                </a:solidFill>
                <a:latin typeface="Arial"/>
                <a:ea typeface="Arial"/>
                <a:cs typeface="Arial"/>
              </a:rPr>
              <a:t>Draft for discussion | 29 October 2026</a:t>
            </a:r>
          </a:p>
        </p:txBody>
      </p:sp>
    </p:spTree>
    <p:extLst>
      <p:ext uri="{BB962C8B-B14F-4D97-AF65-F5344CB8AC3E}">
        <p14:creationId xmlns:p14="http://schemas.microsoft.com/office/powerpoint/2010/main" val="546774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9B2C3-508A-4D8B-BEC7-67AF1150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05736-6FA4-4053-8B55-8BB608F7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FF78A-E3D6-4BA9-865D-1C392A00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C780F-BDEF-4323-878D-36D17635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What happens after a capacity alert?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7C021-9C58-4F44-8F5B-E3264F43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The issue is the operational decision that follows, not the forecast itself.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AD36F-AF49-4873-A441-66FF8123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 planning view may show that clinic capacity will come under pressure. Someone then needs to decide what to do, by when, and what happens if the response cannot be delivered.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361B0-D4A4-439B-A8D8-9161F5B6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46D43-D9CB-4D4D-99FF-C8C8C577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85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6B6B"/>
                </a:solidFill>
                <a:latin typeface="Arial"/>
                <a:ea typeface="Arial"/>
                <a:cs typeface="Arial"/>
              </a:rPr>
              <a:t>THE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1F876-C024-462E-9F66-11EDC822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Can the current process show a named owner, a deadline, the reason for the decision, and what happened next?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B68B1-2B3E-4B7E-996D-9B9DA60B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If it can, there may be nothing here to build. If it cannot, the missing record may be worth testing with one client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75253-895E-4233-96C5-E120FEED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2038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4F57B-7B68-4EF4-B546-FE89B8DF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19350"/>
            <a:ext cx="1504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 clear</a:t>
            </a:r>
          </a:p>
          <a:p xmlns:a="http://schemas.openxmlformats.org/drawingml/2006/main">
            <a:pPr>
              <a:defRPr sz="172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question.</a:t>
            </a:r>
          </a:p>
          <a:p xmlns:a="http://schemas.openxmlformats.org/drawingml/2006/main">
            <a:pPr>
              <a:defRPr sz="172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 small test.</a:t>
            </a:r>
          </a:p>
        </p:txBody>
      </p:sp>
    </p:spTree>
    <p:extLst>
      <p:ext uri="{BB962C8B-B14F-4D97-AF65-F5344CB8AC3E}">
        <p14:creationId xmlns:p14="http://schemas.microsoft.com/office/powerpoint/2010/main" val="516161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6B2C74-F352-4957-B227-6CE5B036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770A7-FF49-4055-B92A-ED2C982C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3747D-81EC-4DB6-8B23-B68ECF53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B04EC-15BC-4DDB-BDA9-DBDF036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decision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19C67-CE00-4318-BC4E-FC7F9E3D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A one-page way to test whether the decision route is already clear and auditable.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23EBF-B0AF-40B9-AAAA-AEB2109D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8C65E-621C-4E11-B163-DFAB3675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2C6D6-05DE-4C36-9B42-422AA6CB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B4572-1E4E-436A-82F7-662D4788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capacity signal starts the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EBA69-AEBE-4430-BFC4-B9FEAF6A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882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C340E-99E2-4EEE-A5E1-F84DB373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D8D81-3255-4BE3-BEC1-121ED47A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A87EE-A897-4408-AE62-11530DCD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Owner and deadline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CAD69-A511-437C-BE00-CBDFB1F9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2415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Who decides, and by when?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5AFED-E803-42E1-A46B-CF38CAB4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882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84A65-9879-44A3-8628-A59DFD8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0086E-613D-423A-9672-6B6CEA60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309EF-261F-4C3C-B1E0-5D14033B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Choices and escalation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4F0D3-E05D-4D7A-A375-3EBE8AD7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6710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can they do, and when is help needed?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2F50B-E965-4E64-B08F-89BCD63D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14775"/>
            <a:ext cx="882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F1314-E7CA-4D4E-828D-9C61D3D5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5C921-B6CF-41AF-8787-3AD6976E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1BE49-9FFA-4F46-B6A6-56730EF4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Reason and constraint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3EC51-0FAD-42AD-B5B4-FB5F0AD2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Why that response, and what blocked it?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801276-B4F0-4BED-B63C-D93A07A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57725"/>
            <a:ext cx="882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8FE65-4862-495C-9802-CC3E947E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25BA6-DC59-4E63-B3D3-AD2722B5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3AD73-4BD2-45F4-87D0-E04DA7B0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6C2CCE-41FF-4021-B499-7C831FAB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5300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Did the response achieve the intended operational result?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BA7838-1E9A-43B5-BCAA-469C5E4C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00675"/>
            <a:ext cx="882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44CA2-6D4D-4C76-8DBC-E9F64DA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981200"/>
            <a:ext cx="134302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6CD558-E395-4258-BE6A-9C9B7EE7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66950"/>
            <a:ext cx="9810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85DFDB-FD5C-4DE3-A338-66C18406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76600"/>
            <a:ext cx="9620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It checks whether they show ownership, decisions and results.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99D7FB-69BB-4C7B-B74F-EF501695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Candidate workshop scenario: a specialist clinic forecasts capacity pressure over six weeks. All thresholds and actions remain illustrative.</a:t>
            </a:r>
          </a:p>
        </p:txBody>
      </p:sp>
    </p:spTree>
    <p:extLst>
      <p:ext uri="{BB962C8B-B14F-4D97-AF65-F5344CB8AC3E}">
        <p14:creationId xmlns:p14="http://schemas.microsoft.com/office/powerpoint/2010/main" val="1153175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BFF84-C402-463D-AFD2-9AFB46F8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TEST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1C22D-AC5E-429A-8FE8-011410C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8FD6E-60DD-47A0-9851-8213ACAC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26F72-A612-4381-B6DC-9458CDAA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 90-minute internal workshop determines the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40ACB-69C2-456D-A388-27D90615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The workshop uses a synthetic scenario. It requires no client data and makes no clinical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16719-1422-4000-A262-8AB46216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6B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1EB05-D0C3-4314-9F4A-92B32AC1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Map the current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9018C-E722-409B-A04D-4C7B443D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933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Identify the alert, the decision owner, the tools used, and the record that exists today.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703D6-6A62-4CE1-BD47-2E940DFC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09DA2-F7E6-468C-9034-6460D119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6B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8AFC9-7D70-4E80-8D58-70E0B2D3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Draft the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01936-D973-4468-BF67-B7F01AFD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71850"/>
            <a:ext cx="2933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Set the trigger, deadline, escalation route, rationale and outcome to check.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9DD54-58C0-4FD6-A412-61686F4A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04EF5-619F-4494-8323-D21191F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6B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AB680-D33A-41C4-A0F4-6B77364E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Challenge the need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02126-FE69-4AD5-B45B-A51CFA9C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71850"/>
            <a:ext cx="2933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Ask whether existing tools already cover it, whether capacity is the root cause, and whether the record would create burden.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B6065-80A8-4177-9148-28DEADD2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36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F09CD-B70A-4E1D-96E5-1F020221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EE009-9974-4953-B672-A668A9C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941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 stop, assess or design recommendation with the reasons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79466-0457-418D-B9E0-B418CD79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A 12-week assessment follows only if the workshop finds a plausible client gap, a feasible test route and repeatable value.</a:t>
            </a:r>
          </a:p>
        </p:txBody>
      </p:sp>
    </p:spTree>
    <p:extLst>
      <p:ext uri="{BB962C8B-B14F-4D97-AF65-F5344CB8AC3E}">
        <p14:creationId xmlns:p14="http://schemas.microsoft.com/office/powerpoint/2010/main" val="970252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C90F1-F4E5-4A12-B9B1-57377211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SUPPORT REQUESTED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E80BF-19AF-4E47-8134-C3F618E7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FF5C8-3A65-4692-BF6E-FC223531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4E134-B696-44A7-8F4C-E761AEDA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immediate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864EE-F2D0-40BF-927B-68EC1A6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Help decide whether this deserves a partner conversation.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F6EA2-BCCD-479C-8FF1-428991B9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24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F5489-6CF3-42FD-A8DE-F5C83420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6B6B"/>
                </a:solidFill>
                <a:latin typeface="Arial"/>
                <a:ea typeface="Arial"/>
                <a:cs typeface="Arial"/>
              </a:rPr>
              <a:t>WHAT I AM ASKING FROM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8DBD6-0C55-48DE-856A-4370A98C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Support a 90-minute internal workshop and advise which Health or AI &amp; Data partners should see the evidence after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3BC42-E9B5-4D4A-B83A-E30C0684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FD77F-E10E-43C2-9D38-3AB73AF4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6B6B"/>
                </a:solidFill>
                <a:latin typeface="Arial"/>
                <a:ea typeface="Arial"/>
                <a:cs typeface="Arial"/>
              </a:rPr>
              <a:t>YOUR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EBE6D-18E3-4C2E-9736-FF8C614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About one hour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7CF30-09E1-4FAB-93C8-FDFCA846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Pre-read, a short discussion, and workshop endorsement if you agree.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74B82-BD12-44F0-9901-BB43FA1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00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6B6B"/>
                </a:solidFill>
                <a:latin typeface="Arial"/>
                <a:ea typeface="Arial"/>
                <a:cs typeface="Arial"/>
              </a:rPr>
              <a:t>WHAT YOU WILL GET 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7703F-42CF-4AB5-BFB1-F730728B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576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 clear recommendation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ED1D7-BB32-4982-899E-A223D6C6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43450"/>
            <a:ext cx="576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Evidence on whether the current process already closes the gap, and whether a repeatable advisory method is credible.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70AF5-358E-4E11-99BB-E3254D46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363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D8641-92E4-4682-B62F-2F4CCA37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963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today: support the workshop, refine the proposition, or stop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6B7F5-CA6A-44DA-8DE9-0261DFC4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Verify before external use: EY sponsorship process, client route, ownership and permitted use of independently developed material.</a:t>
            </a:r>
          </a:p>
        </p:txBody>
      </p:sp>
    </p:spTree>
    <p:extLst>
      <p:ext uri="{BB962C8B-B14F-4D97-AF65-F5344CB8AC3E}">
        <p14:creationId xmlns:p14="http://schemas.microsoft.com/office/powerpoint/2010/main" val="49644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2026-10-29T10:46:22.0000000Z</dcterms:created>
  <dcterms:modified xsi:type="dcterms:W3CDTF">2026-10-29T10:46:22.0000000Z</dcterms:modified>
</coreProperties>
</file>