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c1af0e841d04104" Type="http://schemas.openxmlformats.org/officeDocument/2006/relationships/extended-properties" Target="docProps/app.xml"/><Relationship Id="R9733f78cdbbf4bd8" Type="http://schemas.openxmlformats.org/officeDocument/2006/relationships/officeDocument" Target="ppt/presentation.xml"/><Relationship Id="Rfe09fdd1a026407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06d601bbb4b84"/>
  </p:sldMasterIdLst>
  <p:notesMasterIdLst>
    <p:notesMasterId xmlns:r="http://schemas.openxmlformats.org/officeDocument/2006/relationships" r:id="R05ae2c2501134b8b"/>
  </p:notesMasterIdLst>
  <p:sldIdLst>
    <p:sldId xmlns:r="http://schemas.openxmlformats.org/officeDocument/2006/relationships" id="256" r:id="R70c61273faf943f4"/>
    <p:sldId xmlns:r="http://schemas.openxmlformats.org/officeDocument/2006/relationships" id="257" r:id="R524b8b6c76e94cf7"/>
    <p:sldId xmlns:ns0="http://schemas.openxmlformats.org/officeDocument/2006/relationships" id="263" ns0:id="rId13"/>
    <p:sldId xmlns:ns0="http://schemas.openxmlformats.org/officeDocument/2006/relationships" id="264" ns0:id="rId14"/>
    <p:sldId xmlns:r="http://schemas.openxmlformats.org/officeDocument/2006/relationships" id="258" r:id="Rb94023afad0445dd"/>
    <p:sldId xmlns:r="http://schemas.openxmlformats.org/officeDocument/2006/relationships" id="259" r:id="R89feb491d7164076"/>
    <p:sldId xmlns:r="http://schemas.openxmlformats.org/officeDocument/2006/relationships" id="260" r:id="Rb6781caf0f584a19"/>
    <p:sldId xmlns:r="http://schemas.openxmlformats.org/officeDocument/2006/relationships" id="261" r:id="Ra92b657b6d7d4648"/>
    <p:sldId xmlns:r="http://schemas.openxmlformats.org/officeDocument/2006/relationships" id="262" r:id="R55156989fe97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ae2c2501134b8b" Type="http://schemas.openxmlformats.org/officeDocument/2006/relationships/notesMaster" Target="notesMasters/notesMaster1.xml"/><Relationship Id="R524b8b6c76e94cf7" Type="http://schemas.openxmlformats.org/officeDocument/2006/relationships/slide" Target="slides/slide2.xml"/><Relationship Id="R55156989fe974693" Type="http://schemas.openxmlformats.org/officeDocument/2006/relationships/slide" Target="slides/slide7.xml"/><Relationship Id="R70c61273faf943f4" Type="http://schemas.openxmlformats.org/officeDocument/2006/relationships/slide" Target="slides/slide1.xml"/><Relationship Id="R717ac63f554b474e" Type="http://schemas.openxmlformats.org/officeDocument/2006/relationships/tableStyles" Target="tableStyles.xml"/><Relationship Id="R89feb491d7164076" Type="http://schemas.openxmlformats.org/officeDocument/2006/relationships/slide" Target="slides/slide4.xml"/><Relationship Id="Ra9106d601bbb4b84" Type="http://schemas.openxmlformats.org/officeDocument/2006/relationships/slideMaster" Target="slideMasters/slideMaster1.xml"/><Relationship Id="Ra92b657b6d7d4648" Type="http://schemas.openxmlformats.org/officeDocument/2006/relationships/slide" Target="slides/slide6.xml"/><Relationship Id="Rb364a351e67a42ee" Type="http://schemas.openxmlformats.org/officeDocument/2006/relationships/presProps" Target="presProps.xml"/><Relationship Id="Rb6781caf0f584a19" Type="http://schemas.openxmlformats.org/officeDocument/2006/relationships/slide" Target="slides/slide5.xml"/><Relationship Id="Rb94023afad0445dd" Type="http://schemas.openxmlformats.org/officeDocument/2006/relationships/slide" Target="slides/slide3.xml"/><Relationship Id="Rd07d79b8f8cc4ee1" Type="http://schemas.openxmlformats.org/officeDocument/2006/relationships/theme" Target="theme/theme1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d13103e327264d9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5ce15e368494be0" Type="http://schemas.openxmlformats.org/officeDocument/2006/relationships/slide" Target="../slides/slide1.xml"/><Relationship Id="Rf8e8257bbe3e44b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8dc75717d254cbb" Type="http://schemas.openxmlformats.org/officeDocument/2006/relationships/slide" Target="../slides/slide2.xml"/><Relationship Id="Rae552a44bda8411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fa7687debe247d9" Type="http://schemas.openxmlformats.org/officeDocument/2006/relationships/notesMaster" Target="../notesMasters/notesMaster1.xml"/><Relationship Id="R6150b41f37424bd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df5454cdae54e01" Type="http://schemas.openxmlformats.org/officeDocument/2006/relationships/slide" Target="../slides/slide4.xml"/><Relationship Id="Rac50762135b4492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a5935308e3d407f" Type="http://schemas.openxmlformats.org/officeDocument/2006/relationships/slide" Target="../slides/slide5.xml"/><Relationship Id="R2cf8223e246746f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41dc34e38d14ef8" Type="http://schemas.openxmlformats.org/officeDocument/2006/relationships/slide" Target="../slides/slide6.xml"/><Relationship Id="Rd16a74e45d8f4c3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cdbbb3cf4994a50" Type="http://schemas.openxmlformats.org/officeDocument/2006/relationships/slide" Target="../slides/slide7.xml"/><Relationship Id="Rc7c2017dd7f34c0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prior proposal and slide text. Core content is a hypothesis to test; it is not client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EY Ireland article supplied by the user, paraphrased: digital twins are valuable when anchored in a specific decision and inform planning. Decision Advantage makes no claim about gaps in twins.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scenario. All thresholds and responses are illustrative and are not clinical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Decision Advantage decision-contract work. The table is editable and designed as a workshop diagnostic.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workshop plan. Duration and outputs are a proposed internal test, not an EY process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assessment plan. Any client governance, information governance or commercial conditions are verify before a client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request. Verify EY structure, priorities, sponsorship process, IP ownership/confidentiality and client governance requirements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be6f9ee28014fe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0d0879cede24b2d" Type="http://schemas.openxmlformats.org/officeDocument/2006/relationships/theme" Target="theme/theme2.xml"/><Relationship Id="Rb0dea4164b43417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ea4164b43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d07e059e59d4f63" Type="http://schemas.openxmlformats.org/officeDocument/2006/relationships/slideLayout" Target="../slideLayouts/slideLayout1.xml"/><Relationship Id="Re8d1af4209f1489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391f383a6824320" Type="http://schemas.openxmlformats.org/officeDocument/2006/relationships/slideLayout" Target="../slideLayouts/slideLayout1.xml"/><Relationship Id="Ra9803425ea4f450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2b7589c32b240eb" Type="http://schemas.openxmlformats.org/officeDocument/2006/relationships/notesSlide" Target="../notesSlides/notesSlide3.xml"/><Relationship Id="Ra404792e7ed2420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69efe12b45d48da" Type="http://schemas.openxmlformats.org/officeDocument/2006/relationships/slideLayout" Target="../slideLayouts/slideLayout1.xml"/><Relationship Id="Rb475533c8e3f44e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bf1982142ebd495d" Type="http://schemas.openxmlformats.org/officeDocument/2006/relationships/notesSlide" Target="../notesSlides/notesSlide5.xml"/><Relationship Id="Rdc3b952c0a494d0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d44315dd0e840a7" Type="http://schemas.openxmlformats.org/officeDocument/2006/relationships/slideLayout" Target="../slideLayouts/slideLayout1.xml"/><Relationship Id="Rbc76de1af7744bb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76537c34f46249b3" Type="http://schemas.openxmlformats.org/officeDocument/2006/relationships/notesSlide" Target="../notesSlides/notesSlide7.xml"/><Relationship Id="Rbb56e4f262fd4a2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74F34-E3F1-46B7-98F8-82B2985D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1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7FB04-0529-4B96-BC7D-8607C9A6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B4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B4B7"/>
                </a:solidFill>
                <a:latin typeface="Arial"/>
                <a:ea typeface="Arial"/>
                <a:cs typeface="Arial"/>
              </a:rPr>
              <a:t>DECISION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9871D-B7CD-4E23-B39B-B7C93077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857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Sponsor a small test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claiming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new offer.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A8FD6-9F31-4EE9-B5E7-8ECE60C8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8E9"/>
                </a:solidFill>
                <a:latin typeface="Arial"/>
                <a:ea typeface="Arial"/>
                <a:cs typeface="Arial"/>
              </a:rPr>
              <a:t>A narrow, non-clinical test of whether capacity insight is consistently translated into a governed operational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F6AAD-B59F-44B7-81EB-D24AA1F9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B1C5C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1C5C7"/>
                </a:solidFill>
                <a:latin typeface="Arial"/>
                <a:ea typeface="Arial"/>
                <a:cs typeface="Arial"/>
              </a:rPr>
              <a:t>Internal sponsorship proposal | 19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BAE0D-F965-414D-957A-DC0DFD25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876300"/>
            <a:ext cx="16668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A0EF8-DEBE-47D0-A793-EDE98A6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953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F85E2-741A-4E24-BD99-4096A1F4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0492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Sponsor a 90-minute internal workshop.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74E72-EA59-42BD-84F8-0612FB4B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05025"/>
            <a:ext cx="6076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Approve a 12-week assessment only if the workshop names one candidate engagement and finds a gap that current tools and process do not already close.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93205-1775-4153-8E4B-FA0BA8A4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38475"/>
            <a:ext cx="622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6BD50-813E-4C68-9D56-F2535B75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WHAT YOU ARE SPONSORING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AE39D-94D6-45E0-AECD-3E5D526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reusable decision-contract method for one specialist clinic-capacity decision — not software, not clinical decision support, and not a claim that existing tools are inadequate.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30A8-5693-4C14-A502-122ADB46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86300"/>
            <a:ext cx="62293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3F0CB-BFE0-42A7-9129-88384A4B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THE SPONSOR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0C22F-DE94-41FD-8410-AAFC9644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149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Give the idea 90 minutes. Stop if it duplicates what already works.</a:t>
            </a:r>
          </a:p>
        </p:txBody>
      </p:sp>
    </p:spTree>
    <p:extLst>
      <p:ext uri="{BB962C8B-B14F-4D97-AF65-F5344CB8AC3E}">
        <p14:creationId xmlns:p14="http://schemas.microsoft.com/office/powerpoint/2010/main" val="1477101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B6B0C-5DB8-4CF7-9033-9BD40D4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THE NARROW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1A65E-4F30-4E10-BF35-D2420FE0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3A7C2-B199-4533-9706-41A6A95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8A7B4-3951-4DC7-A167-FEFA312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The only question worth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5EC8F-B8CB-40A5-AD24-F21FB62A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Do capacity insights reliably become a named, time-bound operational decision?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1DD03-5E5D-4920-8CD2-1A45B7C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952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D92B8-5849-4236-AF3C-0F25466F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D3EB9-22CD-4303-A23B-B37F4BD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Capacity insight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A58B8-1703-423A-AC90-4178AAB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A planning view or model indicates a threshold may be breached.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09C43-C328-4627-8AD6-20715847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52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8590B-A57C-4753-834C-CB2BFB7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CA781-E8BA-4D29-866F-C9DCEA57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0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Operational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0495A-8BED-459D-AE0D-BD51D07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290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Someone must decide what happens, by when, and within which permitted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7AAD8-6294-42F5-8C88-6B9B92D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9337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DEC29-6A8F-4682-A309-FCC001E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B4409-45FA-4B89-9477-5D05364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03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Evidence or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8826D-FE4E-4FF1-AA2F-62D47B3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The decision, rationale, feasibility constraint and outcome are available — or the contract adds nothing.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BBE50-ACC5-485F-907B-1610F0F9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86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164A7-CD21-40CF-BA4B-A079FB4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52800"/>
            <a:ext cx="86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E8D00-F3F0-4003-8283-224DD5BB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67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This does not assert that a digital twin or current workflow lacks governance. It tests adequacy for one selected decision in one client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8F6D8-1BCF-4062-B883-8ECF9581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28479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F47E1-7CB6-40F9-910E-B87B5E28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75A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75A00"/>
                </a:solidFill>
                <a:latin typeface="Arial"/>
                <a:ea typeface="Arial"/>
                <a:cs typeface="Arial"/>
              </a:rPr>
              <a:t>FALSIFIABLE BY 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DA127-5B8F-435B-BE3C-1592AA77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Stop if the current record already shows owner, deadline, rationale, constraint and outcome reliably — or if the root cause is unavailable capacity.</a:t>
            </a:r>
          </a:p>
        </p:txBody>
      </p:sp>
    </p:spTree>
    <p:extLst>
      <p:ext uri="{BB962C8B-B14F-4D97-AF65-F5344CB8AC3E}">
        <p14:creationId xmlns:p14="http://schemas.microsoft.com/office/powerpoint/2010/main" val="1344390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4B438-3052-4CAC-938B-86BD5BF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A BOUNDED FIRST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30F61-6B33-4E54-B229-A3084069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B6481-E466-499D-9B56-91543342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D9C86-C09A-4D19-815E-194834E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Start with one specialist clinic-capacity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CE33C-0D0E-4677-8A07-02BA75F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Synthetic oHCM-type scenario for an internal workshop — no client or patient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F05BC-D47A-4FF1-8EB2-CBEE876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9151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4910F-6C31-46C8-9454-DA1EA670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3B2B3-C08D-47B8-98A7-55CE70A5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Demand is projected to exceed planned appointment capacity over six weeks.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EC777-F002-4BC4-9E11-DFD12447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82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A planning view forecasts utilisation above an agreed threshold and a possible delay to therapy start. The operational question is whether and how to activate a capacity response.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DCA88-36AC-4BF9-A5F9-9867D81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68BCD-5C52-42C2-9EA4-D263E64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576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The test is the governance of the response — not clinical prioritisation, treatment choice or patient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54EFE-E3A3-43FF-85EF-28585E21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97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WHAT WOULD BE DECIDED?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1182E-0EF3-470F-835F-B56D38DF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895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E49C5-187A-4AA8-BD44-9B33BBD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Confirm an extra clinic 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92857-73C2-44FF-A0EF-C447D451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0375"/>
            <a:ext cx="2895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B4F23-30D6-44D9-BBA7-718616F8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1467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534"/>
                </a:solidFill>
                <a:latin typeface="Arial"/>
                <a:ea typeface="Arial"/>
                <a:cs typeface="Arial"/>
              </a:rPr>
              <a:t>Seek cross-cover capacity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93414-7B7B-443F-BCA6-22549EA4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2895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09CA7-4D1A-4CB0-A9BC-2EC4486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534"/>
                </a:solidFill>
                <a:latin typeface="Arial"/>
                <a:ea typeface="Arial"/>
                <a:cs typeface="Arial"/>
              </a:rPr>
              <a:t>Escalate an unavailable-resource constraint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2D785-9A80-4D64-BA24-7F80F42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38625"/>
            <a:ext cx="2895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7C4BF-65AC-40EB-9D29-C2902209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534"/>
                </a:solidFill>
                <a:latin typeface="Arial"/>
                <a:ea typeface="Arial"/>
                <a:cs typeface="Arial"/>
              </a:rPr>
              <a:t>Record that no feasible response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CE3C2-0401-4363-A97F-7CEA34D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3632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085E9-35A5-49D2-9F32-1F18FA4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Boundary: all triggers, thresholds and actions are illustrative. Their clinical and operational appropriateness is for the client to define and verify.</a:t>
            </a:r>
          </a:p>
        </p:txBody>
      </p:sp>
    </p:spTree>
    <p:extLst>
      <p:ext uri="{BB962C8B-B14F-4D97-AF65-F5344CB8AC3E}">
        <p14:creationId xmlns:p14="http://schemas.microsoft.com/office/powerpoint/2010/main" val="894930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8AD1A-A795-4269-8BC8-930FCE87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THE REUSABLE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5ABE6-98E5-4D3D-A972-EA1F4C8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E9645-16D6-4184-8050-12A4B304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141B1-21B2-48D1-9585-7AE65426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decision contract makes the test inspectable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54317-8232-4DA0-93FC-01D242D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If the client already has this evidence for the selected decision, the proposal should stop.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8763000" cy="3467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6429375"/>
              </a:tblGrid>
              <a:tr h="4333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Contract field</a:t>
                      </a:r>
                    </a:p>
                  </a:txBody>
                  <a:tcPr marL="91440" marR="91440" marT="45720" marB="45720">
                    <a:solidFill>
                      <a:srgbClr val="1425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to evidence</a:t>
                      </a:r>
                    </a:p>
                  </a:txBody>
                  <a:tcPr marL="91440" marR="91440" marT="45720" marB="45720">
                    <a:solidFill>
                      <a:srgbClr val="142534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Which threshold and evidence start the decision?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Owner + deadline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Who is accountable, who is deputy, and by when?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Permitted response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Which non-clinical capacity actions are allowed?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Escalation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When and to whom does an unresolved decision move?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Why was the chosen response selected or declined?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Feasibility 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Decision delayed / action infeasible / outcome not achieved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Verified outcome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534"/>
                          </a:solidFill>
                          <a:latin typeface="Arial"/>
                          <a:ea typeface="Arial"/>
                          <a:cs typeface="Arial"/>
                        </a:rPr>
                        <a:t>What happened after the response and who checked it?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2A393-5568-4FCF-8062-925BB61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1866900" cy="34671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A4278-E616-4E20-A3D4-3FAA7DD3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764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DB4B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DB4B7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97D79-93DB-4032-B883-2CF9E13C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6525"/>
            <a:ext cx="1371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separates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"we saw a risk"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"we governed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response."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EDF1B-7A74-4989-8CA9-524FF7A1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3338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1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E0DE4-EE51-4DE7-9E4E-F41BC095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43425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CE8E9"/>
                </a:solidFill>
                <a:latin typeface="Arial"/>
                <a:ea typeface="Arial"/>
                <a:cs typeface="Arial"/>
              </a:rPr>
              <a:t>A useful asset only if clients see the same missing record repeatedly.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DE372-89C4-4205-8047-F1EAA6CD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495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266D8-44D5-4198-834B-6554F53E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30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75A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75A00"/>
                </a:solidFill>
                <a:latin typeface="Arial"/>
                <a:ea typeface="Arial"/>
                <a:cs typeface="Arial"/>
              </a:rPr>
              <a:t>NOT A NEW OPERATING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5D236-DBBE-495D-B4E3-AE606A4F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8102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A structured diagnostic and assurance record for one existing operational decision.</a:t>
            </a:r>
          </a:p>
        </p:txBody>
      </p:sp>
    </p:spTree>
    <p:extLst>
      <p:ext uri="{BB962C8B-B14F-4D97-AF65-F5344CB8AC3E}">
        <p14:creationId xmlns:p14="http://schemas.microsoft.com/office/powerpoint/2010/main" val="1818216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3D131A-1594-4C9B-B2B0-28EDB6B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6E6DF-9C0F-4287-A9CB-570853CA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3F363-D1C2-4AB9-902F-BEE54688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E2169-EF44-4B54-A948-97E89066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The 90-minute workshop is the decision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45CE7-B0FA-4892-98F7-68F69B1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A low-risk internal test on a synthetic or published scenario. It must end with one candidate engagement, or a stop.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B7DB-60B3-47D9-A89D-A0C841C5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0" cy="244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23B97-AF3E-4B62-8306-0F6E93D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8AF37-F4B2-45C9-B0B5-B1E8BEF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0E99F-8F64-40C7-8FD8-641FDD54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0A6B2-DBAF-41F4-990B-81C487F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Set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25381-546F-4309-9986-66A17A2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Scope, non-clinical limits and stop conditions.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71152-1082-46DD-A652-81EF546F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19325"/>
            <a:ext cx="0" cy="244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7E69-C10D-493F-8A26-F9C6739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84B0D-3408-43AD-B8BD-ED9E8BBB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33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FF330-6124-4660-A35B-B051243A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47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10–25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4A6D0-D197-4346-AE78-E5AF351A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432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Walk the 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800A5-83EC-4357-8580-3833A819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6710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Identify the capacity insight and candidate decision.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556BD-3B49-437A-A1BF-61868A5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19325"/>
            <a:ext cx="0" cy="244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96305-0A9E-4674-A27F-A9EBFC9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39120-83F6-4824-A4FD-8C6E7A1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51CC4-77EE-4AB8-AB00-9F9911FA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25–40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E8A04-0903-42A5-94C5-5C909556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432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Map today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35B63-2556-4C71-B902-598EF161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Identify roles, tools, hand-offs and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73F76-E164-4795-8023-0B623EB9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0" cy="244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43EB1-BCCB-47D1-8FB6-53C9A5E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958D6-2E08-426A-B69D-C8876FB8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33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98EB9-6440-4986-9ADA-3616076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47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40–60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63EB4-843F-46E7-8EB6-CF3F2C3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432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Draft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7C36B-B289-4C33-B0FA-E4A95A2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46710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Set owner, deadline, action, escalation and outcome.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8A34B-E59A-41A0-B58C-04B7FBEF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19325"/>
            <a:ext cx="0" cy="244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98A0D-17FF-466C-B9B5-F03A064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6CFF9-F2E2-4C3D-A91E-3BC322F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812FA9-9B56-465F-A6F0-DC4773EC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60–75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6EBC0C-E03E-41B0-873E-DF1FBB5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432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Red-team 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780C7-7EE0-4A29-9C51-549BB6F3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Test duplication, capacity constraints and burden.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A3B8F6-F4FF-4310-A9C3-ABD2BEF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19325"/>
            <a:ext cx="0" cy="244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9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6F9FD-22EE-4D2A-BC3C-B0101C29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7F5D9-328A-4E0F-8087-E43CFE13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33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07FF5-D42B-4236-BF13-3928CB1C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75–90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77654F-E91B-4451-9487-4DBEC44D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432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Make the call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E86E4B-A10D-451D-98B9-D82CA62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46710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Stop / assess / design recommendation.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A22808-57BF-4C9B-9095-31DA73F0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36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2B4D04-16E0-43E2-B60D-BAD59DC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THE WORKSHOP MUST DISPROVE SOMETHING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B6A525-4D58-4F93-A903-FAD9D33F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956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Current tools already close the gap; the issue is capacity, not governance; the additional record is burdensome; or there is no plausible client sponsor/buyer.</a:t>
            </a:r>
          </a:p>
        </p:txBody>
      </p:sp>
    </p:spTree>
    <p:extLst>
      <p:ext uri="{BB962C8B-B14F-4D97-AF65-F5344CB8AC3E}">
        <p14:creationId xmlns:p14="http://schemas.microsoft.com/office/powerpoint/2010/main" val="161830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D442A2-4940-450D-9F34-1111F8E9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STEP 2 — ONLY IF STEP 1 PASSES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66B66-57C7-4BA0-9ECC-093C91D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32168-E54C-4A46-B3BD-0168100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20D0E-075E-477C-BBAC-0C8B779B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12-week assessment earns the right to become an offer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993F1-5FC9-41A0-99FA-40586A98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No software build or deployment is assumed. The output is evidence, not advocacy.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0AF26-AA61-4D9F-94FF-0C2FC364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362200" cy="2495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016DE-291D-4341-8253-6A49938D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WEEKS 1–3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2990E-4938-4F53-A804-2378ABA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EE0FA-DC76-4FE0-888E-21A56A5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Map one workflow; review existing tools; write a falsifiable gap statement.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97DBB-D27D-42BC-B872-3E0CE7D3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81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671F3-D54C-4B82-9E75-15E5D70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2362200" cy="2495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16123-A0EC-46C2-87DF-7BD32AFA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WEEKS 4–7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A8255-E162-4A60-8BC9-95CE0490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F302D-D69D-4A25-9A14-A151541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8612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Co-design the contract, assurance controls and measurement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2123E-85B7-492F-AC32-89D45F5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81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5686B-787E-4838-BD41-16C4C68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71700"/>
            <a:ext cx="2362200" cy="2495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32B78-CEF8-405E-8DA1-AC7D5262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WEEKS 8–10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CDB36-82E0-41E6-B27B-65AE0D2A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62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Shadow mode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C2B04-0A17-4715-8E73-9C20E490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Observe a non-clinical test route with agreed client governance.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C18FD-EF6B-4D83-A9BE-132A5612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FABB6-3C45-4F1D-8552-A9A10D84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2362200" cy="2495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9525">
            <a:solidFill>
              <a:srgbClr val="1425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DD876-694A-45E8-9D4C-18F51E9C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DB4B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DB4B7"/>
                </a:solidFill>
                <a:latin typeface="Arial"/>
                <a:ea typeface="Arial"/>
                <a:cs typeface="Arial"/>
              </a:rPr>
              <a:t>WEEKS 11–12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C7FD0-AA81-4D56-A4BD-E5F3CD0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E7EA9-EF8B-4EBF-BB18-0A3C360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8612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E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CE8E9"/>
                </a:solidFill>
                <a:latin typeface="Arial"/>
                <a:ea typeface="Arial"/>
                <a:cs typeface="Arial"/>
              </a:rPr>
              <a:t>Produce an evidence pack and recommend stop, iterate or package.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06C51-487F-4755-B179-F0EF539D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GO ONLY IF ALL FOUR ARE TRUE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F9C7D-F2B7-47BA-93A5-4C1B4310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60BAB-593F-453C-86DC-F072A321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59A04-8345-4C57-976D-34F64C4D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plausible client decision exists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51E58-19A4-4220-A00D-C3F561E2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05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BC31A-8B2D-4CC5-A93C-A910828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14975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078738-8678-4AF0-8387-3F1B7FC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Existing tools do not already close 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B9B4E-EF50-469B-B962-E15F3CCB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E586BB-27AD-4F55-AC81-6992924F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15025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F25D9-D529-4335-A2F2-81337784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non-clinical test route is feasible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149559-3FE7-4A23-A030-9C3A282E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05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617CA-F160-414F-9898-9F758DF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15025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A6FFD7-D0FD-42B0-8BD2-5CA769C8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86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The method is reusable beyond one engagement</a:t>
            </a:r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612648" y="629107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2534"/>
                </a:solidFill>
                <a:latin typeface="Arial"/>
              </a:rPr>
              <a:t>Before Week 1: named sponsor · client route · resource approval · IP and independence clearance</a:t>
            </a:r>
          </a:p>
        </p:txBody>
      </p:sp>
    </p:spTree>
    <p:extLst>
      <p:ext uri="{BB962C8B-B14F-4D97-AF65-F5344CB8AC3E}">
        <p14:creationId xmlns:p14="http://schemas.microsoft.com/office/powerpoint/2010/main" val="487216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68771-8C05-4C61-B3B8-76E9B5EF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SPONSOR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EFC87-C175-4CFA-81BB-612E851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3545F-BA13-470E-9CEB-2CE905A1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AB77-FCF2-4CF5-BC11-8921C3AC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Sponsor the test — not the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6DB68-A718-45A7-A282-4312CCB6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The value of Step 1 is a disciplined answer about whether to stop.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3A89-5A75-4432-9314-B0243C2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EE56A-ADA7-40A9-96CB-00B2F8CC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STEP 1: SPONSOR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C05AE-813F-4998-91C2-3287C604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4143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90-minute internal workshop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95E01-5FE4-49FB-9874-A50F2C8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0195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Endorse the test and convene Life Sciences, AI &amp; Data / twin, health operations and risk colleagues [names to confirm]. About two hours of preparation; synthetic or published scenario. Step 1 must end with one candidate engagement, or a stop.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41E75-77FA-415B-A911-E4BD6AE2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76450"/>
            <a:ext cx="50482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42534"/>
          </a:solidFill>
          <a:ln xmlns:a="http://schemas.openxmlformats.org/drawingml/2006/main" w="9525">
            <a:solidFill>
              <a:srgbClr val="1425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9FC90-F93F-4335-8C2C-F9F0F62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DB4B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DB4B7"/>
                </a:solidFill>
                <a:latin typeface="Arial"/>
                <a:ea typeface="Arial"/>
                <a:cs typeface="Arial"/>
              </a:rPr>
              <a:t>STEP 2: SPONSOR ONLY IF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B1B5-7D0E-461F-AECA-CB1F40B2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4143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12-week client-linked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E28BF-9C8C-4F14-A988-9B0D585D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0195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8E9"/>
                </a:solidFill>
                <a:latin typeface="Arial"/>
                <a:ea typeface="Arial"/>
                <a:cs typeface="Arial"/>
              </a:rPr>
              <a:t>Access to a suitable engagement or team, a named EY lead and light-touch oversight: [__] partner hours and [__] team members over 12 weeks. Only with a named sponsor, a client route, resource approval and IP and independence clearance.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0586E-A41E-49D2-BC46-5388BB14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7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23BB4-80FB-4336-97FE-ADFA0A6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WHAT YOU GET 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C816A-5EA1-4B75-A837-EB977B6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02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A clear stop / assess / design recommendation, a draft reusable method, and evidence on whether there is a differentiated client conversation worth pursuing.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8A94A-AF86-41CE-94FA-568EF8E5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Verify before external use: EY sponsorship process, suitable engagement/client access, and ownership and permitted use of the prototype and any IPCI-related material.</a:t>
            </a:r>
          </a:p>
        </p:txBody>
      </p:sp>
    </p:spTree>
    <p:extLst>
      <p:ext uri="{BB962C8B-B14F-4D97-AF65-F5344CB8AC3E}">
        <p14:creationId xmlns:p14="http://schemas.microsoft.com/office/powerpoint/2010/main" val="28214313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>
            <a:spLocks noGrp="1"/>
          </p:cNvSpPr>
          <p:nvPr/>
        </p:nvSpPr>
        <p:spPr>
          <a:xfrm>
            <a:off x="609600" y="2667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FIT WITH EY’S TWIN WORK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049000" y="266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523875"/>
            <a:ext cx="10972800" cy="0"/>
          </a:xfrm>
          <a:prstGeom prst="line">
            <a:avLst/>
          </a:prstGeom>
          <a:noFill/>
          <a:ln w="9525">
            <a:solidFill>
              <a:srgbClr val="CCD7DC"/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609600" y="74295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Complementary to the digital twin work, not a replacement</a:t>
            </a: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09600" y="1333500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Anchored in EY Ireland’s published article on digital twins of patient journeys.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011680"/>
            <a:ext cx="5074920" cy="2057400"/>
          </a:xfrm>
          <a:prstGeom prst="rect">
            <a:avLst/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94560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8C95"/>
                </a:solidFill>
                <a:latin typeface="Arial"/>
              </a:rPr>
              <a:t>WHAT THE ARTICLE DESCRIBES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2534"/>
                </a:solidFill>
                <a:latin typeface="Arial"/>
              </a:rPr>
              <a:t>Twins are anchored in a specific decision</a:t>
            </a:r>
          </a:p>
          <a:p>
            <a:pPr algn="l">
              <a:spcBef>
                <a:spcPts val="700"/>
              </a:spcBef>
            </a:pPr>
            <a:r>
              <a:rPr sz="1350" b="0">
                <a:solidFill>
                  <a:srgbClr val="142534"/>
                </a:solidFill>
                <a:latin typeface="Arial"/>
              </a:rPr>
              <a:t>They test changes before implementation</a:t>
            </a:r>
          </a:p>
          <a:p>
            <a:pPr algn="l">
              <a:spcBef>
                <a:spcPts val="700"/>
              </a:spcBef>
            </a:pPr>
            <a:r>
              <a:rPr sz="1350" b="0">
                <a:solidFill>
                  <a:srgbClr val="142534"/>
                </a:solidFill>
                <a:latin typeface="Arial"/>
              </a:rPr>
              <a:t>They combine data with clinical and operational expertise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2011680"/>
            <a:ext cx="5047488" cy="2057400"/>
          </a:xfrm>
          <a:prstGeom prst="rect">
            <a:avLst/>
          </a:prstGeom>
          <a:solidFill>
            <a:srgbClr val="14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2194560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DB4B7"/>
                </a:solidFill>
                <a:latin typeface="Arial"/>
              </a:rPr>
              <a:t>WHAT THIS TEST WOULD ADD (A HYPOTHESIS)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56032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rial"/>
              </a:rPr>
              <a:t>A named owner and deadline for the response after the insight</a:t>
            </a:r>
          </a:p>
          <a:p>
            <a:pPr algn="l">
              <a:spcBef>
                <a:spcPts val="700"/>
              </a:spcBef>
            </a:pPr>
            <a:r>
              <a:rPr sz="1350" b="0">
                <a:solidFill>
                  <a:srgbClr val="FFFFFF"/>
                </a:solidFill>
                <a:latin typeface="Arial"/>
              </a:rPr>
              <a:t>A recorded rationale, escalation and outcome</a:t>
            </a:r>
          </a:p>
          <a:p>
            <a:pPr algn="l">
              <a:spcBef>
                <a:spcPts val="700"/>
              </a:spcBef>
            </a:pPr>
            <a:r>
              <a:rPr sz="1350" b="0">
                <a:solidFill>
                  <a:srgbClr val="FFFFFF"/>
                </a:solidFill>
                <a:latin typeface="Arial"/>
              </a:rPr>
              <a:t>Outcomes compared with the twin’s assumptions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526280"/>
            <a:ext cx="2286000" cy="548640"/>
          </a:xfrm>
          <a:prstGeom prst="rect">
            <a:avLst/>
          </a:prstGeom>
          <a:solidFill>
            <a:srgbClr val="EA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262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42534"/>
                </a:solidFill>
                <a:latin typeface="Arial"/>
              </a:rPr>
              <a:t>Twin output or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4526280"/>
            <a:ext cx="4023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50" b="1">
                <a:solidFill>
                  <a:srgbClr val="008C95"/>
                </a:solidFill>
                <a:latin typeface="Arial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0984" y="4526280"/>
            <a:ext cx="2286000" cy="548640"/>
          </a:xfrm>
          <a:prstGeom prst="rect">
            <a:avLst/>
          </a:prstGeom>
          <a:solidFill>
            <a:srgbClr val="EA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3" y="45262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42534"/>
                </a:solidFill>
                <a:latin typeface="Arial"/>
              </a:rPr>
              <a:t>Decision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983" y="4526280"/>
            <a:ext cx="4023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50" b="1">
                <a:solidFill>
                  <a:srgbClr val="008C95"/>
                </a:solidFill>
                <a:latin typeface="Arial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4526280"/>
            <a:ext cx="2286000" cy="548640"/>
          </a:xfrm>
          <a:prstGeom prst="rect">
            <a:avLst/>
          </a:prstGeom>
          <a:solidFill>
            <a:srgbClr val="EA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5262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42534"/>
                </a:solidFill>
                <a:latin typeface="Arial"/>
              </a:rPr>
              <a:t>Recorded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526280"/>
            <a:ext cx="4023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50" b="1">
                <a:solidFill>
                  <a:srgbClr val="008C95"/>
                </a:solidFill>
                <a:latin typeface="Arial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77656" y="4526280"/>
            <a:ext cx="2286000" cy="548640"/>
          </a:xfrm>
          <a:prstGeom prst="rect">
            <a:avLst/>
          </a:prstGeom>
          <a:solidFill>
            <a:srgbClr val="EA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376" y="45262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42534"/>
                </a:solidFill>
                <a:latin typeface="Arial"/>
              </a:rPr>
              <a:t>Review against twin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4406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1">
                <a:solidFill>
                  <a:srgbClr val="142534"/>
                </a:solidFill>
                <a:latin typeface="Arial"/>
              </a:rPr>
              <a:t>We do not claim that twins lack decision governance. We test whether a gap exists for one decision.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09360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A6872"/>
                </a:solidFill>
                <a:latin typeface="Arial"/>
              </a:rPr>
              <a:t>Source: EY Ireland, digital twins of patient journeys (7 September 2026). Any claim about wider EY priorities: verify.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>
            <a:spLocks noGrp="1"/>
          </p:cNvSpPr>
          <p:nvPr/>
        </p:nvSpPr>
        <p:spPr>
          <a:xfrm>
            <a:off x="609600" y="2667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HOW WE GOT HERE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049000" y="266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872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523875"/>
            <a:ext cx="10972800" cy="0"/>
          </a:xfrm>
          <a:prstGeom prst="line">
            <a:avLst/>
          </a:prstGeom>
          <a:noFill/>
          <a:ln w="9525">
            <a:solidFill>
              <a:srgbClr val="CCD7DC"/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609600" y="74295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400" b="1">
                <a:solidFill>
                  <a:srgbClr val="142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534"/>
                </a:solidFill>
                <a:latin typeface="Arial"/>
                <a:ea typeface="Arial"/>
                <a:cs typeface="Arial"/>
              </a:rPr>
              <a:t>How the idea narrowed, and what is still unproven</a:t>
            </a: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09600" y="1333500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5A68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872"/>
                </a:solidFill>
                <a:latin typeface="Arial"/>
                <a:ea typeface="Arial"/>
                <a:cs typeface="Arial"/>
              </a:rPr>
              <a:t>From a thought-leadership hypothesis to one testable decision.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92024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212080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109728" marR="109728" marT="45720" marB="45720" anchor="ctr">
                    <a:solidFill>
                      <a:srgbClr val="1425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What it showed</a:t>
                      </a:r>
                    </a:p>
                  </a:txBody>
                  <a:tcPr marL="109728" marR="109728" marT="45720" marB="45720" anchor="ctr">
                    <a:solidFill>
                      <a:srgbClr val="1425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Not yet validated</a:t>
                      </a:r>
                    </a:p>
                  </a:txBody>
                  <a:tcPr marL="109728" marR="109728" marT="45720" marB="45720" anchor="ctr">
                    <a:solidFill>
                      <a:srgbClr val="14253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534"/>
                          </a:solidFill>
                          <a:latin typeface="Arial"/>
                        </a:rPr>
                        <a:t>Thought leadership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534"/>
                          </a:solidFill>
                          <a:latin typeface="Arial"/>
                        </a:rPr>
                        <a:t>A hypothesis about delayed or unowned decisions in hospital operations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A6872"/>
                          </a:solidFill>
                          <a:latin typeface="Arial"/>
                        </a:rPr>
                        <a:t>That the problem exists at a real site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534"/>
                          </a:solidFill>
                          <a:latin typeface="Arial"/>
                        </a:rPr>
                        <a:t>Build Week prototype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534"/>
                          </a:solidFill>
                          <a:latin typeface="Arial"/>
                        </a:rPr>
                        <a:t>The decision lifecycle works on synthetic data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A6872"/>
                          </a:solidFill>
                          <a:latin typeface="Arial"/>
                        </a:rPr>
                        <a:t>Performance, adoption, client value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534"/>
                          </a:solidFill>
                          <a:latin typeface="Arial"/>
                        </a:rPr>
                        <a:t>HIHI submission and feedback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534"/>
                          </a:solidFill>
                          <a:latin typeface="Arial"/>
                        </a:rPr>
                        <a:t>Crowded market; differentiation and a real gap not yet evidenced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A6872"/>
                          </a:solidFill>
                          <a:latin typeface="Arial"/>
                        </a:rPr>
                        <a:t>A differentiated, evidenced gap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534"/>
                          </a:solidFill>
                          <a:latin typeface="Arial"/>
                        </a:rPr>
                        <a:t>Narrowing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534"/>
                          </a:solidFill>
                          <a:latin typeface="Arial"/>
                        </a:rPr>
                        <a:t>One decision contract; lead case moved from ED boarding to a specialist clinic-capacity decision to match EY’s published twin work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A6872"/>
                          </a:solidFill>
                          <a:latin typeface="Arial"/>
                        </a:rPr>
                        <a:t>Client demand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534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534"/>
                          </a:solidFill>
                          <a:latin typeface="Arial"/>
                        </a:rPr>
                        <a:t>This proposal and a 90-minute workshop request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A6872"/>
                          </a:solidFill>
                          <a:latin typeface="Arial"/>
                        </a:rPr>
                        <a:t>A client workflow, buyer, data route or commercial case</a:t>
                      </a:r>
                    </a:p>
                  </a:txBody>
                  <a:tcPr marL="109728" marR="109728" marT="45720" marB="45720" anchor="ctr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" y="54406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1">
                <a:solidFill>
                  <a:srgbClr val="142534"/>
                </a:solidFill>
                <a:latin typeface="Arial"/>
              </a:rPr>
              <a:t>The move to clinic capacity improves alignment with EY’s published work. It does not validate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09360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A6872"/>
                </a:solidFill>
                <a:latin typeface="Arial"/>
              </a:rPr>
              <a:t>HIHI: first submission and assessment received; not yet resubmitted [confirm wording before sharing].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2026-10-19T22:43:29.9810000Z</dcterms:created>
  <dcterms:modified xsi:type="dcterms:W3CDTF">2026-10-19T22:43:29.9810000Z</dcterms:modified>
</coreProperties>
</file>